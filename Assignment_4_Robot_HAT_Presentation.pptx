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2E46"/>
    <a:srgbClr val="8F8F8D"/>
    <a:srgbClr val="C3C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21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1370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02A"/>
          </a:solidFill>
          <a:ln w="12700">
            <a:solidFill>
              <a:srgbClr val="162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1143000"/>
            <a:ext cx="6309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Robot HAT Hardware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Components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3232" y="278892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8DE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the Robot HAT expands Raspberry Pi 5 for robotics and PiDog V2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0" y="1051560"/>
            <a:ext cx="3931920" cy="4389120"/>
          </a:xfrm>
          <a:prstGeom prst="roundRect">
            <a:avLst/>
          </a:prstGeom>
          <a:solidFill>
            <a:srgbClr val="243447"/>
          </a:solidFill>
          <a:ln w="12700">
            <a:solidFill>
              <a:srgbClr val="3E5A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818120" y="1600200"/>
            <a:ext cx="2926080" cy="594360"/>
          </a:xfrm>
          <a:prstGeom prst="roundRect">
            <a:avLst>
              <a:gd name="adj" fmla="val 12308"/>
            </a:avLst>
          </a:prstGeom>
          <a:solidFill>
            <a:srgbClr val="1D3A26"/>
          </a:solidFill>
          <a:ln w="12700">
            <a:solidFill>
              <a:srgbClr val="1D3A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927848" y="1709928"/>
            <a:ext cx="2706624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5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89720" y="22631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↕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818120" y="2788920"/>
            <a:ext cx="2926080" cy="594360"/>
          </a:xfrm>
          <a:prstGeom prst="roundRect">
            <a:avLst>
              <a:gd name="adj" fmla="val 12308"/>
            </a:avLst>
          </a:prstGeom>
          <a:solidFill>
            <a:srgbClr val="493A52"/>
          </a:solidFill>
          <a:ln w="12700">
            <a:solidFill>
              <a:srgbClr val="49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927848" y="2898648"/>
            <a:ext cx="2706624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Robot HAT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635240" y="37947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D8DE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motors • servos • sensors • audio • power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13232" y="56692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FC8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Viktoriya Kurmisheva, Elham </a:t>
            </a:r>
            <a:r>
              <a:rPr lang="en-US" sz="1500" dirty="0" err="1">
                <a:solidFill>
                  <a:srgbClr val="BFC8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Timory</a:t>
            </a:r>
            <a:endParaRPr lang="en-US" sz="1500" dirty="0">
              <a:solidFill>
                <a:srgbClr val="BFC8D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500">
                <a:solidFill>
                  <a:srgbClr val="BFC8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ITAI </a:t>
            </a:r>
            <a:r>
              <a:rPr lang="en-US" sz="1500" dirty="0">
                <a:solidFill>
                  <a:srgbClr val="BFC8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2374 • Prof. Sitaram Ayyagari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D2E46"/>
          </a:solidFill>
          <a:ln w="12700">
            <a:solidFill>
              <a:srgbClr val="1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0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What the Robot HAT Does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109270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Robot HAT gives the Raspberry Pi more control over real hardware used in robotics.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68680" y="2100834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1D3A26"/>
          </a:solidFill>
          <a:ln w="12700">
            <a:solidFill>
              <a:srgbClr val="1D3A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78408" y="2183130"/>
            <a:ext cx="2523744" cy="8869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5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794760" y="244373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202A"/>
                </a:solidFill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434840" y="2100834"/>
            <a:ext cx="2926080" cy="1051560"/>
          </a:xfrm>
          <a:prstGeom prst="roundRect">
            <a:avLst>
              <a:gd name="adj" fmla="val 6957"/>
            </a:avLst>
          </a:prstGeom>
          <a:solidFill>
            <a:srgbClr val="493A52"/>
          </a:solidFill>
          <a:ln w="12700">
            <a:solidFill>
              <a:srgbClr val="49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44568" y="2183130"/>
            <a:ext cx="2706624" cy="8869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Robot HAT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connections + control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43800" y="244373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202A"/>
                </a:solidFill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8183880" y="2100834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8A4B08"/>
          </a:solidFill>
          <a:ln w="12700">
            <a:solidFill>
              <a:srgbClr val="8A4B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93608" y="2183130"/>
            <a:ext cx="2843784" cy="8869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Robot Hardware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movement + sensing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94360" y="3610737"/>
            <a:ext cx="8911949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00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Connects motors, servos, sensors, audio, communication devices, and battery power.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robotic movement through motor control and PWM servo control.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PiDog V2 connect software decisions with physical actions.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94360" y="61722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Reference: </a:t>
            </a:r>
            <a:r>
              <a:rPr lang="en-US" sz="900" dirty="0" err="1">
                <a:solidFill>
                  <a:schemeClr val="bg2">
                    <a:lumMod val="50000"/>
                  </a:schemeClr>
                </a:solidFill>
              </a:rPr>
              <a:t>SunFounder</a:t>
            </a:r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, “Robot HAT.”</a:t>
            </a:r>
          </a:p>
        </p:txBody>
      </p:sp>
      <p:sp>
        <p:nvSpPr>
          <p:cNvPr id="15" name="Text 13"/>
          <p:cNvSpPr/>
          <p:nvPr/>
        </p:nvSpPr>
        <p:spPr>
          <a:xfrm>
            <a:off x="594360" y="64465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</a:rPr>
              <a:t>Robot HAT Hardware Components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7F32408-D129-8642-C514-E41DABE22BC6}"/>
              </a:ext>
            </a:extLst>
          </p:cNvPr>
          <p:cNvSpPr/>
          <p:nvPr/>
        </p:nvSpPr>
        <p:spPr>
          <a:xfrm>
            <a:off x="7360920" y="1562988"/>
            <a:ext cx="4534906" cy="32918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D2E46"/>
          </a:solidFill>
          <a:ln w="12700">
            <a:solidFill>
              <a:srgbClr val="1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0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Main Robot HAT Ports and Connectors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/mnt/data/robot_hat_board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62988"/>
            <a:ext cx="6583680" cy="392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54373" y="17458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official board diagram highlights the ports students need to understand: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454068" y="2326189"/>
            <a:ext cx="4737627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00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port and Type-C USB port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pins and ADC pins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PWM pins for servo control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 and right motor ports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I²C, UART, and SPI expansion interfaces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Speaker, buttons, and status features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94360" y="6172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Reference: </a:t>
            </a:r>
            <a:r>
              <a:rPr lang="en-US" sz="900" dirty="0" err="1">
                <a:solidFill>
                  <a:schemeClr val="bg2">
                    <a:lumMod val="50000"/>
                  </a:schemeClr>
                </a:solidFill>
              </a:rPr>
              <a:t>SunFounder</a:t>
            </a:r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, “Robot HAT.”</a:t>
            </a:r>
          </a:p>
        </p:txBody>
      </p:sp>
      <p:sp>
        <p:nvSpPr>
          <p:cNvPr id="8" name="Text 5"/>
          <p:cNvSpPr/>
          <p:nvPr/>
        </p:nvSpPr>
        <p:spPr>
          <a:xfrm>
            <a:off x="594360" y="64465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</a:rPr>
              <a:t>Robot HAT Hardware Components  |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D2E46"/>
          </a:solidFill>
          <a:ln w="12700">
            <a:solidFill>
              <a:srgbClr val="1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0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Key Components and Uses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85800" y="1051560"/>
            <a:ext cx="109728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A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1417320"/>
            <a:ext cx="10424160" cy="603504"/>
          </a:xfrm>
          <a:prstGeom prst="rect">
            <a:avLst/>
          </a:prstGeom>
          <a:solidFill>
            <a:srgbClr val="F9F6EE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61288" y="154533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Motor driver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749040" y="1545336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Controls DC motors with direction and PWM signals.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60120" y="2194560"/>
            <a:ext cx="10424160" cy="603504"/>
          </a:xfrm>
          <a:prstGeom prst="rect">
            <a:avLst/>
          </a:prstGeom>
          <a:solidFill>
            <a:srgbClr val="F0ECE4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61288" y="23225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PWM servo ports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749040" y="2322576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 PiDog leg, head, and tail servo movement.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60120" y="2971800"/>
            <a:ext cx="10424160" cy="603504"/>
          </a:xfrm>
          <a:prstGeom prst="rect">
            <a:avLst/>
          </a:prstGeom>
          <a:solidFill>
            <a:srgbClr val="F9F6EE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61288" y="30998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ADC + digital pins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749040" y="3099816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 analog sensor values and support ultrasonic sensing.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60120" y="3749040"/>
            <a:ext cx="10424160" cy="603504"/>
          </a:xfrm>
          <a:prstGeom prst="rect">
            <a:avLst/>
          </a:prstGeom>
          <a:solidFill>
            <a:srgbClr val="F0ECE4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61288" y="387705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I²C / UART / SPI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749040" y="3877056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interfaces for sensors and modules.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60120" y="4526280"/>
            <a:ext cx="10424160" cy="603504"/>
          </a:xfrm>
          <a:prstGeom prst="rect">
            <a:avLst/>
          </a:prstGeom>
          <a:solidFill>
            <a:srgbClr val="F9F6EE"/>
          </a:solidFill>
          <a:ln w="12700">
            <a:solidFill>
              <a:srgbClr val="E7DE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61288" y="465429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+ audio + LEDs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749040" y="4654296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Battery integration, I2S audio, speaker, power indicators, and user LED.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94360" y="64465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</a:rPr>
              <a:t>Robot HAT Hardware Components  |  4</a:t>
            </a:r>
            <a:endParaRPr lang="en-US" sz="900" dirty="0"/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0335F39D-FC14-C70A-1679-E14C59F3F796}"/>
              </a:ext>
            </a:extLst>
          </p:cNvPr>
          <p:cNvSpPr/>
          <p:nvPr/>
        </p:nvSpPr>
        <p:spPr>
          <a:xfrm>
            <a:off x="594360" y="6172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References: </a:t>
            </a:r>
            <a:r>
              <a:rPr lang="en-US" sz="900" dirty="0" err="1">
                <a:solidFill>
                  <a:schemeClr val="bg2">
                    <a:lumMod val="50000"/>
                  </a:schemeClr>
                </a:solidFill>
              </a:rPr>
              <a:t>SunFounder</a:t>
            </a:r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, “Robot HAT”; </a:t>
            </a:r>
            <a:r>
              <a:rPr lang="en-US" sz="900" dirty="0" err="1">
                <a:solidFill>
                  <a:schemeClr val="bg2">
                    <a:lumMod val="50000"/>
                  </a:schemeClr>
                </a:solidFill>
              </a:rPr>
              <a:t>SunFounder</a:t>
            </a:r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, “</a:t>
            </a:r>
            <a:r>
              <a:rPr lang="en-US" sz="900" dirty="0" err="1">
                <a:solidFill>
                  <a:schemeClr val="bg2">
                    <a:lumMod val="50000"/>
                  </a:schemeClr>
                </a:solidFill>
              </a:rPr>
              <a:t>PiDog</a:t>
            </a:r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D2E46"/>
          </a:solidFill>
          <a:ln w="12700">
            <a:solidFill>
              <a:srgbClr val="1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0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PiDog V2 Example: From Sensor to Movement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8673" y="9601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example shows how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PiDog’s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sensors, Raspberry Pi, Robot HAT, and servos work together.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88920" y="2039112"/>
            <a:ext cx="105156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88920" y="3611880"/>
            <a:ext cx="105156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230368" y="2468880"/>
            <a:ext cx="0" cy="64008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83680" y="3547872"/>
            <a:ext cx="105156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052560" y="3794760"/>
            <a:ext cx="0" cy="77724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85800" y="164592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1D2E46"/>
          </a:solidFill>
          <a:ln w="12700">
            <a:solidFill>
              <a:srgbClr val="1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95528" y="1755648"/>
            <a:ext cx="1883664" cy="612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Camera Module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Color / Face Detection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85800" y="3182112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8A4B08"/>
          </a:solidFill>
          <a:ln w="12700">
            <a:solidFill>
              <a:srgbClr val="8A4B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5528" y="3291840"/>
            <a:ext cx="1883664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PiDog Sensors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Ultrasonic • Touch • IMU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840480" y="1600200"/>
            <a:ext cx="2788920" cy="868680"/>
          </a:xfrm>
          <a:prstGeom prst="roundRect">
            <a:avLst>
              <a:gd name="adj" fmla="val 8421"/>
            </a:avLst>
          </a:prstGeom>
          <a:solidFill>
            <a:srgbClr val="1D3A26"/>
          </a:solidFill>
          <a:ln w="12700">
            <a:solidFill>
              <a:srgbClr val="1D3A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950208" y="1709928"/>
            <a:ext cx="2569464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5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Processes Distance + Vision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840480" y="310896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493A52"/>
          </a:solidFill>
          <a:ln w="12700">
            <a:solidFill>
              <a:srgbClr val="49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950208" y="3218688"/>
            <a:ext cx="2569464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Robot HAT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Connects Sensors + Controls Servos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635240" y="3127248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1D3A26"/>
          </a:solidFill>
          <a:ln w="12700">
            <a:solidFill>
              <a:srgbClr val="1D3A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44968" y="3236976"/>
            <a:ext cx="2615184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PWM Servos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Leg / Head / Tail Movement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635240" y="457200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8A4B08"/>
          </a:solidFill>
          <a:ln w="12700">
            <a:solidFill>
              <a:srgbClr val="8A4B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44968" y="4681728"/>
            <a:ext cx="2615184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PiDog Response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Movement Changes / Obstacle Avoided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68680" y="5661344"/>
            <a:ext cx="104698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A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51560" y="5780216"/>
            <a:ext cx="10104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ultrasonic sensor detects an object → Raspberry Pi processes the distance → Raspberry Pi sends a command through the Robot HAT → servos change PiDog’s movement.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94360" y="64465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</a:rPr>
              <a:t>Robot HAT Hardware Components  |  5</a:t>
            </a:r>
            <a:endParaRPr lang="en-US" sz="900" dirty="0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D85151DE-A1A5-1E3A-5D08-9F0E0C54843A}"/>
              </a:ext>
            </a:extLst>
          </p:cNvPr>
          <p:cNvSpPr/>
          <p:nvPr/>
        </p:nvSpPr>
        <p:spPr>
          <a:xfrm>
            <a:off x="594360" y="6172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Reference: </a:t>
            </a:r>
            <a:r>
              <a:rPr lang="en-US" sz="900" dirty="0" err="1">
                <a:solidFill>
                  <a:schemeClr val="bg2">
                    <a:lumMod val="50000"/>
                  </a:schemeClr>
                </a:solidFill>
              </a:rPr>
              <a:t>SunFounder</a:t>
            </a:r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, “</a:t>
            </a:r>
            <a:r>
              <a:rPr lang="en-US" sz="900" dirty="0" err="1">
                <a:solidFill>
                  <a:schemeClr val="bg2">
                    <a:lumMod val="50000"/>
                  </a:schemeClr>
                </a:solidFill>
              </a:rPr>
              <a:t>PiDog</a:t>
            </a:r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D2E46"/>
          </a:solidFill>
          <a:ln w="12700">
            <a:solidFill>
              <a:srgbClr val="1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0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Practical Considerations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68680" y="1143000"/>
            <a:ext cx="2286000" cy="594360"/>
          </a:xfrm>
          <a:prstGeom prst="roundRect">
            <a:avLst>
              <a:gd name="adj" fmla="val 12308"/>
            </a:avLst>
          </a:prstGeom>
          <a:solidFill>
            <a:srgbClr val="753D38"/>
          </a:solidFill>
          <a:ln w="12700">
            <a:solidFill>
              <a:srgbClr val="753D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78408" y="1225296"/>
            <a:ext cx="2066544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07719" y="1897380"/>
            <a:ext cx="2651473" cy="107442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Motors and servos can draw a large amount of current, so the robot needs a stable battery and secure power connections.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2286000" cy="594360"/>
          </a:xfrm>
          <a:prstGeom prst="roundRect">
            <a:avLst>
              <a:gd name="adj" fmla="val 12308"/>
            </a:avLst>
          </a:prstGeom>
          <a:solidFill>
            <a:srgbClr val="8A4B08"/>
          </a:solidFill>
          <a:ln w="12700">
            <a:solidFill>
              <a:srgbClr val="8A4B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73168" y="1225296"/>
            <a:ext cx="2066544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Wiring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642737" y="1965960"/>
            <a:ext cx="2901063" cy="107442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Sensors, motors, and communication devices need the correct ports because incorrect wiring can prevent the robot from working.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458200" y="1143000"/>
            <a:ext cx="2286000" cy="594360"/>
          </a:xfrm>
          <a:prstGeom prst="roundRect">
            <a:avLst>
              <a:gd name="adj" fmla="val 12308"/>
            </a:avLst>
          </a:prstGeom>
          <a:solidFill>
            <a:srgbClr val="1D2E46"/>
          </a:solidFill>
          <a:ln w="12700">
            <a:solidFill>
              <a:srgbClr val="1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567928" y="1225296"/>
            <a:ext cx="2066544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Compatibility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389189" y="1897380"/>
            <a:ext cx="2651473" cy="107442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PiDog V2 updates the Robot HAT and servo configuration to support Raspberry Pi 5.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51560" y="4160520"/>
            <a:ext cx="100584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A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25880" y="4462445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46120" y="4416725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620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Robot HAT expands Raspberry Pi 5 by adding the hardware control needed for sensing, movement, audio, power, and robotics projects.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94360" y="64465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</a:rPr>
              <a:t>Robot HAT Hardware Components  |  6</a:t>
            </a:r>
            <a:endParaRPr lang="en-US" sz="900" dirty="0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DC078D50-712E-8879-8258-210B048CEAC3}"/>
              </a:ext>
            </a:extLst>
          </p:cNvPr>
          <p:cNvSpPr/>
          <p:nvPr/>
        </p:nvSpPr>
        <p:spPr>
          <a:xfrm>
            <a:off x="594360" y="6172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References: </a:t>
            </a:r>
            <a:r>
              <a:rPr lang="en-US" sz="900" dirty="0" err="1">
                <a:solidFill>
                  <a:schemeClr val="bg2">
                    <a:lumMod val="50000"/>
                  </a:schemeClr>
                </a:solidFill>
              </a:rPr>
              <a:t>SunFounder</a:t>
            </a:r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, “Robot HAT”; </a:t>
            </a:r>
            <a:r>
              <a:rPr lang="en-US" sz="900" dirty="0" err="1">
                <a:solidFill>
                  <a:schemeClr val="bg2">
                    <a:lumMod val="50000"/>
                  </a:schemeClr>
                </a:solidFill>
              </a:rPr>
              <a:t>SunFounder</a:t>
            </a:r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, “</a:t>
            </a:r>
            <a:r>
              <a:rPr lang="en-US" sz="900" dirty="0" err="1">
                <a:solidFill>
                  <a:schemeClr val="bg2">
                    <a:lumMod val="50000"/>
                  </a:schemeClr>
                </a:solidFill>
              </a:rPr>
              <a:t>PiDog</a:t>
            </a:r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D2E46"/>
          </a:solidFill>
          <a:ln w="12700">
            <a:solidFill>
              <a:srgbClr val="1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85070" y="51206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0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References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30724" y="1234440"/>
            <a:ext cx="10424160" cy="27509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dirty="0"/>
              <a:t>draw.io. “Flowchart Maker &amp; Online Diagram Software.” </a:t>
            </a:r>
            <a:r>
              <a:rPr lang="en-US" i="1" dirty="0" err="1"/>
              <a:t>App.Diagrams.Net</a:t>
            </a:r>
            <a:r>
              <a:rPr lang="en-US" dirty="0"/>
              <a:t>, 2025, https://app.diagrams.net/.</a:t>
            </a:r>
          </a:p>
          <a:p>
            <a:endParaRPr lang="en-US" dirty="0"/>
          </a:p>
          <a:p>
            <a:r>
              <a:rPr lang="en-US" dirty="0"/>
              <a:t>“Hardware Introduction — </a:t>
            </a:r>
            <a:r>
              <a:rPr lang="en-US" dirty="0" err="1"/>
              <a:t>SunFounder</a:t>
            </a:r>
            <a:r>
              <a:rPr lang="en-US" dirty="0"/>
              <a:t> Robot HAT Documentation.” </a:t>
            </a:r>
            <a:r>
              <a:rPr lang="en-US" i="1" dirty="0" err="1"/>
              <a:t>Sunfounder.Com</a:t>
            </a:r>
            <a:r>
              <a:rPr lang="en-US" dirty="0"/>
              <a:t>, 2026, https://docs.sunfounder.com/projects/robot-hat/en/latest/hardware_introduction.html.</a:t>
            </a:r>
          </a:p>
          <a:p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SunFounder</a:t>
            </a:r>
            <a:r>
              <a:rPr lang="en-US" dirty="0"/>
              <a:t> Raspberry Pi Robot - </a:t>
            </a:r>
            <a:r>
              <a:rPr lang="en-US" dirty="0" err="1"/>
              <a:t>PiDog</a:t>
            </a:r>
            <a:r>
              <a:rPr lang="en-US" dirty="0"/>
              <a:t> — </a:t>
            </a:r>
            <a:r>
              <a:rPr lang="en-US" dirty="0" err="1"/>
              <a:t>SunFounder</a:t>
            </a:r>
            <a:r>
              <a:rPr lang="en-US" dirty="0"/>
              <a:t> </a:t>
            </a:r>
            <a:r>
              <a:rPr lang="en-US" dirty="0" err="1"/>
              <a:t>PiDog</a:t>
            </a:r>
            <a:r>
              <a:rPr lang="en-US" dirty="0"/>
              <a:t> Kit 1.0 Documentation.” </a:t>
            </a:r>
            <a:r>
              <a:rPr lang="en-US" i="1" dirty="0" err="1"/>
              <a:t>Sunfounder.Com</a:t>
            </a:r>
            <a:r>
              <a:rPr lang="en-US" dirty="0"/>
              <a:t>, 2026</a:t>
            </a:r>
            <a:r>
              <a:rPr lang="en-US"/>
              <a:t>, https://docs.sunfounder.com/projects/pidog/en/latest/</a:t>
            </a:r>
          </a:p>
          <a:p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64465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</a:rPr>
              <a:t>Robot HAT Hardware Components  | 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629</Words>
  <Application>Microsoft Office PowerPoint</Application>
  <PresentationFormat>Widescreen</PresentationFormat>
  <Paragraphs>89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Robot HAT Hardware Components Presentation</dc:title>
  <dc:subject>Robot HAT Hardware Components</dc:subject>
  <dc:creator>OpenAI</dc:creator>
  <cp:lastModifiedBy>Виктория Курмышева</cp:lastModifiedBy>
  <cp:revision>26</cp:revision>
  <dcterms:created xsi:type="dcterms:W3CDTF">2026-09-27T00:25:16Z</dcterms:created>
  <dcterms:modified xsi:type="dcterms:W3CDTF">2026-09-27T21:58:03Z</dcterms:modified>
</cp:coreProperties>
</file>